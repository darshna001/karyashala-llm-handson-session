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67" r:id="rId4"/>
    <p:sldId id="260" r:id="rId5"/>
    <p:sldId id="268" r:id="rId6"/>
    <p:sldId id="269" r:id="rId7"/>
    <p:sldId id="262" r:id="rId8"/>
    <p:sldId id="263" r:id="rId9"/>
    <p:sldId id="264" r:id="rId10"/>
    <p:sldId id="265" r:id="rId11"/>
    <p:sldId id="270" r:id="rId12"/>
    <p:sldId id="266" r:id="rId13"/>
    <p:sldId id="259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4" name="Shape 17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Google Shape;11;p2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902515" y="169655"/>
            <a:ext cx="5143503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858000" y="4116847"/>
            <a:ext cx="2544161" cy="461284"/>
          </a:xfrm>
          <a:prstGeom prst="rect">
            <a:avLst/>
          </a:prstGeom>
        </p:spPr>
        <p:txBody>
          <a:bodyPr/>
          <a:lstStyle>
            <a:lvl1pPr algn="l"/>
            <a:lvl2pPr algn="l"/>
            <a:lvl3pPr algn="l"/>
            <a:lvl4pPr algn="l"/>
            <a:lvl5pPr algn="l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>
            <a:spLocks noGrp="1"/>
          </p:cNvSpPr>
          <p:nvPr>
            <p:ph type="title"/>
          </p:nvPr>
        </p:nvSpPr>
        <p:spPr>
          <a:xfrm>
            <a:off x="311698" y="445025"/>
            <a:ext cx="8520604" cy="572703"/>
          </a:xfrm>
          <a:prstGeom prst="rect">
            <a:avLst/>
          </a:prstGeom>
        </p:spPr>
        <p:txBody>
          <a:bodyPr anchor="t"/>
          <a:lstStyle>
            <a:lvl1pPr algn="l">
              <a:defRPr sz="2800"/>
            </a:lvl1pPr>
          </a:lstStyle>
          <a:p>
            <a:r>
              <a:t>Title Text</a:t>
            </a:r>
          </a:p>
        </p:txBody>
      </p:sp>
      <p:sp>
        <p:nvSpPr>
          <p:cNvPr id="3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8" y="1152475"/>
            <a:ext cx="3999904" cy="3416400"/>
          </a:xfrm>
          <a:prstGeom prst="rect">
            <a:avLst/>
          </a:prstGeom>
        </p:spPr>
        <p:txBody>
          <a:bodyPr/>
          <a:lstStyle>
            <a:lvl1pPr indent="-317500" algn="l">
              <a:buSzPts val="1400"/>
              <a:defRPr sz="1400"/>
            </a:lvl1pPr>
            <a:lvl2pPr marL="965200" indent="-355600" algn="l">
              <a:buSzPts val="1400"/>
              <a:defRPr sz="1400"/>
            </a:lvl2pPr>
            <a:lvl3pPr marL="1422400" indent="-355600" algn="l">
              <a:buSzPts val="1400"/>
              <a:defRPr sz="1400"/>
            </a:lvl3pPr>
            <a:lvl4pPr marL="1879600" indent="-355600" algn="l">
              <a:buSzPts val="1400"/>
              <a:defRPr sz="1400"/>
            </a:lvl4pPr>
            <a:lvl5pPr marL="2336800" indent="-355600" algn="l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Google Shape;22;p4"/>
          <p:cNvSpPr txBox="1">
            <a:spLocks noGrp="1"/>
          </p:cNvSpPr>
          <p:nvPr>
            <p:ph type="body" sz="half" idx="21"/>
          </p:nvPr>
        </p:nvSpPr>
        <p:spPr>
          <a:xfrm>
            <a:off x="4832398" y="1152475"/>
            <a:ext cx="3999904" cy="34164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Text"/>
          <p:cNvSpPr txBox="1">
            <a:spLocks noGrp="1"/>
          </p:cNvSpPr>
          <p:nvPr>
            <p:ph type="title"/>
          </p:nvPr>
        </p:nvSpPr>
        <p:spPr>
          <a:xfrm>
            <a:off x="311698" y="445025"/>
            <a:ext cx="8520604" cy="572703"/>
          </a:xfrm>
          <a:prstGeom prst="rect">
            <a:avLst/>
          </a:prstGeom>
        </p:spPr>
        <p:txBody>
          <a:bodyPr anchor="t"/>
          <a:lstStyle>
            <a:lvl1pPr algn="l">
              <a:defRPr sz="2800"/>
            </a:lvl1pPr>
          </a:lstStyle>
          <a:p>
            <a:r>
              <a:t>Title Text</a:t>
            </a:r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Text"/>
          <p:cNvSpPr txBox="1">
            <a:spLocks noGrp="1"/>
          </p:cNvSpPr>
          <p:nvPr>
            <p:ph type="title"/>
          </p:nvPr>
        </p:nvSpPr>
        <p:spPr>
          <a:xfrm>
            <a:off x="311698" y="555600"/>
            <a:ext cx="2808004" cy="7557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8" y="1389598"/>
            <a:ext cx="2808004" cy="3179404"/>
          </a:xfrm>
          <a:prstGeom prst="rect">
            <a:avLst/>
          </a:prstGeom>
        </p:spPr>
        <p:txBody>
          <a:bodyPr/>
          <a:lstStyle>
            <a:lvl1pPr indent="-304800" algn="l">
              <a:buSzPts val="1200"/>
              <a:defRPr sz="1200"/>
            </a:lvl1pPr>
            <a:lvl2pPr marL="914400" indent="-304800" algn="l">
              <a:buSzPts val="1200"/>
              <a:defRPr sz="1200"/>
            </a:lvl2pPr>
            <a:lvl3pPr marL="1371600" indent="-304800" algn="l">
              <a:buSzPts val="1200"/>
              <a:defRPr sz="1200"/>
            </a:lvl3pPr>
            <a:lvl4pPr marL="1828800" indent="-304800" algn="l">
              <a:buSzPts val="1200"/>
              <a:defRPr sz="1200"/>
            </a:lvl4pPr>
            <a:lvl5pPr marL="2286000" indent="-304800" algn="l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xfrm>
            <a:off x="490250" y="450148"/>
            <a:ext cx="6367801" cy="4090804"/>
          </a:xfrm>
          <a:prstGeom prst="rect">
            <a:avLst/>
          </a:prstGeom>
        </p:spPr>
        <p:txBody>
          <a:bodyPr anchor="ctr"/>
          <a:lstStyle>
            <a:lvl1pPr algn="l"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35;p8"/>
          <p:cNvSpPr/>
          <p:nvPr/>
        </p:nvSpPr>
        <p:spPr>
          <a:xfrm>
            <a:off x="4572000" y="-127"/>
            <a:ext cx="4572000" cy="5143505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/>
          <a:lstStyle>
            <a:lvl1pPr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114300" indent="0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114300" indent="114300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114300" indent="114300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114300" indent="114300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114300" indent="114300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Google Shape;38;p8"/>
          <p:cNvSpPr txBox="1">
            <a:spLocks noGrp="1"/>
          </p:cNvSpPr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8" y="4230575"/>
            <a:ext cx="5998804" cy="605103"/>
          </a:xfrm>
          <a:prstGeom prst="rect">
            <a:avLst/>
          </a:prstGeom>
        </p:spPr>
        <p:txBody>
          <a:bodyPr anchor="ctr"/>
          <a:lstStyle>
            <a:lvl1pPr marL="0" indent="228600" algn="l">
              <a:lnSpc>
                <a:spcPct val="100000"/>
              </a:lnSpc>
              <a:buClrTx/>
              <a:buSzTx/>
              <a:buFontTx/>
              <a:buNone/>
            </a:lvl1pPr>
            <a:lvl2pPr marL="1233714" indent="-408213" algn="l">
              <a:lnSpc>
                <a:spcPct val="100000"/>
              </a:lnSpc>
              <a:buClrTx/>
              <a:buFontTx/>
            </a:lvl2pPr>
            <a:lvl3pPr marL="1690914" algn="l">
              <a:lnSpc>
                <a:spcPct val="100000"/>
              </a:lnSpc>
              <a:buClrTx/>
              <a:buFontTx/>
            </a:lvl3pPr>
            <a:lvl4pPr marL="2148114" algn="l">
              <a:lnSpc>
                <a:spcPct val="100000"/>
              </a:lnSpc>
              <a:buClrTx/>
              <a:buFontTx/>
            </a:lvl4pPr>
            <a:lvl5pPr marL="2605314" algn="l"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xx%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xx%</a:t>
            </a:r>
          </a:p>
        </p:txBody>
      </p:sp>
      <p:sp>
        <p:nvSpPr>
          <p:cNvPr id="86" name="Body Level One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>
            <a:spLocks noGrp="1"/>
          </p:cNvSpPr>
          <p:nvPr>
            <p:ph type="title"/>
          </p:nvPr>
        </p:nvSpPr>
        <p:spPr>
          <a:xfrm>
            <a:off x="1376774" y="445025"/>
            <a:ext cx="6390453" cy="572703"/>
          </a:xfrm>
          <a:prstGeom prst="rect">
            <a:avLst/>
          </a:prstGeom>
        </p:spPr>
        <p:txBody>
          <a:bodyPr lIns="68566" tIns="68566" rIns="68566" bIns="68566" anchor="t"/>
          <a:lstStyle>
            <a:lvl1pPr defTabSz="685800">
              <a:defRPr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102" name="Body Level One…"/>
          <p:cNvSpPr txBox="1">
            <a:spLocks noGrp="1"/>
          </p:cNvSpPr>
          <p:nvPr>
            <p:ph type="body" idx="1"/>
          </p:nvPr>
        </p:nvSpPr>
        <p:spPr>
          <a:xfrm>
            <a:off x="1376774" y="1152474"/>
            <a:ext cx="6390453" cy="3416402"/>
          </a:xfrm>
          <a:prstGeom prst="rect">
            <a:avLst/>
          </a:prstGeom>
        </p:spPr>
        <p:txBody>
          <a:bodyPr lIns="68566" tIns="68566" rIns="68566" bIns="68566"/>
          <a:lstStyle>
            <a:lvl1pPr marL="371475" indent="-257175" algn="l" defTabSz="685800">
              <a:lnSpc>
                <a:spcPct val="100000"/>
              </a:lnSpc>
              <a:buClrTx/>
              <a:buSzPts val="2400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69042" indent="-272142" algn="l" defTabSz="685800">
              <a:lnSpc>
                <a:spcPct val="100000"/>
              </a:lnSpc>
              <a:buClrTx/>
              <a:buSzPts val="2400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indent="-317500" algn="l" defTabSz="685800">
              <a:lnSpc>
                <a:spcPct val="100000"/>
              </a:lnSpc>
              <a:buClrTx/>
              <a:buSzPts val="2400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92300" indent="-381000" algn="l" defTabSz="685800">
              <a:lnSpc>
                <a:spcPct val="100000"/>
              </a:lnSpc>
              <a:buClrTx/>
              <a:buSzPts val="2400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349500" indent="-381000" algn="l" defTabSz="685800">
              <a:lnSpc>
                <a:spcPct val="100000"/>
              </a:lnSpc>
              <a:buClrTx/>
              <a:buSzPts val="2400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643173" y="4734213"/>
            <a:ext cx="265697" cy="251609"/>
          </a:xfrm>
          <a:prstGeom prst="rect">
            <a:avLst/>
          </a:prstGeom>
        </p:spPr>
        <p:txBody>
          <a:bodyPr lIns="68566" tIns="68566" rIns="68566" bIns="68566">
            <a:spAutoFit/>
          </a:bodyPr>
          <a:lstStyle>
            <a:lvl1pPr defTabSz="685800"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1485900" y="205978"/>
            <a:ext cx="6172200" cy="857251"/>
          </a:xfrm>
          <a:prstGeom prst="rect">
            <a:avLst/>
          </a:prstGeom>
        </p:spPr>
        <p:txBody>
          <a:bodyPr lIns="34289" tIns="34289" rIns="34289" bIns="34289" anchor="ctr"/>
          <a:lstStyle>
            <a:lvl1pPr defTabSz="685800">
              <a:defRPr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1485900" y="1200150"/>
            <a:ext cx="6172200" cy="3394474"/>
          </a:xfrm>
          <a:prstGeom prst="rect">
            <a:avLst/>
          </a:prstGeom>
        </p:spPr>
        <p:txBody>
          <a:bodyPr lIns="34289" tIns="34289" rIns="34289" bIns="34289"/>
          <a:lstStyle>
            <a:lvl1pPr marL="257175" indent="-257175" algn="l" defTabSz="685800">
              <a:lnSpc>
                <a:spcPct val="100000"/>
              </a:lnSpc>
              <a:spcBef>
                <a:spcPts val="500"/>
              </a:spcBef>
              <a:buClrTx/>
              <a:buSzPct val="100000"/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02127" indent="-244927" algn="l" defTabSz="685800">
              <a:lnSpc>
                <a:spcPct val="100000"/>
              </a:lnSpc>
              <a:spcBef>
                <a:spcPts val="500"/>
              </a:spcBef>
              <a:buClrTx/>
              <a:buSzPct val="100000"/>
              <a:buChar char="–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indent="-228600" algn="l" defTabSz="685800">
              <a:lnSpc>
                <a:spcPct val="100000"/>
              </a:lnSpc>
              <a:spcBef>
                <a:spcPts val="500"/>
              </a:spcBef>
              <a:buClrTx/>
              <a:buSzPct val="100000"/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45920" indent="-274319" algn="l" defTabSz="685800">
              <a:lnSpc>
                <a:spcPct val="100000"/>
              </a:lnSpc>
              <a:spcBef>
                <a:spcPts val="500"/>
              </a:spcBef>
              <a:buClrTx/>
              <a:buSzPct val="100000"/>
              <a:buChar char="–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03120" indent="-274320" algn="l" defTabSz="685800">
              <a:lnSpc>
                <a:spcPct val="100000"/>
              </a:lnSpc>
              <a:spcBef>
                <a:spcPts val="500"/>
              </a:spcBef>
              <a:buClrTx/>
              <a:buSzPct val="100000"/>
              <a:buChar char="»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460960" y="4812658"/>
            <a:ext cx="197141" cy="183053"/>
          </a:xfrm>
          <a:prstGeom prst="rect">
            <a:avLst/>
          </a:prstGeom>
        </p:spPr>
        <p:txBody>
          <a:bodyPr lIns="34289" tIns="34289" rIns="34289" bIns="34289">
            <a:spAutoFit/>
          </a:bodyPr>
          <a:lstStyle>
            <a:lvl1pPr defTabSz="685800"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5;p3" descr="Google Shape;15;p3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783245" y="143151"/>
            <a:ext cx="5143502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Google Shape;16;p3"/>
          <p:cNvSpPr/>
          <p:nvPr/>
        </p:nvSpPr>
        <p:spPr>
          <a:xfrm>
            <a:off x="0" y="4614450"/>
            <a:ext cx="9021158" cy="492414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8" tIns="45718" rIns="45718" bIns="45718"/>
          <a:lstStyle/>
          <a:p>
            <a: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121" name="Google Shape;18;p3"/>
          <p:cNvSpPr txBox="1"/>
          <p:nvPr/>
        </p:nvSpPr>
        <p:spPr>
          <a:xfrm>
            <a:off x="6992460" y="4188659"/>
            <a:ext cx="2628901" cy="466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1" tIns="91421" rIns="91421" bIns="91421">
            <a:spAutoFit/>
          </a:bodyPr>
          <a:lstStyle>
            <a:lvl1pPr>
              <a:lnSpc>
                <a:spcPct val="115000"/>
              </a:lnSpc>
              <a:spcBef>
                <a:spcPts val="1200"/>
              </a:spcBef>
              <a:defRPr sz="2000" b="1">
                <a:solidFill>
                  <a:srgbClr val="FF000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IIITV &amp; IIITV-ICD</a:t>
            </a:r>
          </a:p>
        </p:txBody>
      </p:sp>
      <p:pic>
        <p:nvPicPr>
          <p:cNvPr id="122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687" y="36638"/>
            <a:ext cx="1127508" cy="1127506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4354" y="4700822"/>
            <a:ext cx="336807" cy="318390"/>
          </a:xfrm>
          <a:prstGeom prst="rect">
            <a:avLst/>
          </a:prstGeom>
        </p:spPr>
        <p:txBody>
          <a:bodyPr lIns="91421" tIns="91421" rIns="91421" bIns="91421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5;p8" descr="Google Shape;15;p8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783245" y="143151"/>
            <a:ext cx="5143502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Google Shape;16;p8"/>
          <p:cNvSpPr/>
          <p:nvPr/>
        </p:nvSpPr>
        <p:spPr>
          <a:xfrm>
            <a:off x="0" y="4614450"/>
            <a:ext cx="9021158" cy="492414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8" tIns="45718" rIns="45718" bIns="45718"/>
          <a:lstStyle/>
          <a:p>
            <a: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132" name="Google Shape;17;p8"/>
          <p:cNvSpPr txBox="1"/>
          <p:nvPr/>
        </p:nvSpPr>
        <p:spPr>
          <a:xfrm>
            <a:off x="6992460" y="4188659"/>
            <a:ext cx="2628901" cy="466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>
              <a:lnSpc>
                <a:spcPct val="115000"/>
              </a:lnSpc>
              <a:spcBef>
                <a:spcPts val="1200"/>
              </a:spcBef>
              <a:defRPr sz="2000" b="1">
                <a:solidFill>
                  <a:srgbClr val="FF000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IIITV &amp; IIITV-ICD</a:t>
            </a:r>
          </a:p>
        </p:txBody>
      </p:sp>
      <p:pic>
        <p:nvPicPr>
          <p:cNvPr id="133" name="Google Shape;18;p8" descr="Google Shape;18;p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687" y="36638"/>
            <a:ext cx="1127507" cy="1127506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5;p3" descr="Google Shape;15;p3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783245" y="143151"/>
            <a:ext cx="5143502" cy="514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Google Shape;16;p3"/>
          <p:cNvSpPr/>
          <p:nvPr/>
        </p:nvSpPr>
        <p:spPr>
          <a:xfrm>
            <a:off x="0" y="4614450"/>
            <a:ext cx="9021158" cy="492414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8" tIns="45718" rIns="45718" bIns="45718"/>
          <a:lstStyle/>
          <a:p>
            <a: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pic>
        <p:nvPicPr>
          <p:cNvPr id="143" name="iiitv_logo.pngGoogle Shape;17;p3" descr="iiitv_logo.pngGoogle Shape;17;p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799" y="-10066"/>
            <a:ext cx="1128203" cy="1128205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Google Shape;18;p3"/>
          <p:cNvSpPr txBox="1"/>
          <p:nvPr/>
        </p:nvSpPr>
        <p:spPr>
          <a:xfrm>
            <a:off x="6810925" y="3972926"/>
            <a:ext cx="2628903" cy="466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>
              <a:lnSpc>
                <a:spcPct val="115000"/>
              </a:lnSpc>
              <a:spcBef>
                <a:spcPts val="1200"/>
              </a:spcBef>
              <a:defRPr sz="2000" b="1">
                <a:solidFill>
                  <a:srgbClr val="FF000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IIITV &amp; IIITV-ICD</a:t>
            </a:r>
          </a:p>
        </p:txBody>
      </p:sp>
      <p:sp>
        <p:nvSpPr>
          <p:cNvPr id="1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;p3" descr="Google Shape;15;p3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783077" y="143280"/>
            <a:ext cx="5142965" cy="5142961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Google Shape;16;p3"/>
          <p:cNvSpPr/>
          <p:nvPr/>
        </p:nvSpPr>
        <p:spPr>
          <a:xfrm>
            <a:off x="0" y="4614479"/>
            <a:ext cx="9020520" cy="491763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8" tIns="45718" rIns="45718" bIns="45718"/>
          <a:lstStyle/>
          <a:p>
            <a: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154" name="Google Shape;18;p3"/>
          <p:cNvSpPr txBox="1"/>
          <p:nvPr/>
        </p:nvSpPr>
        <p:spPr>
          <a:xfrm>
            <a:off x="6992639" y="4190038"/>
            <a:ext cx="2628363" cy="463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89999" tIns="89999" rIns="89999" bIns="89999">
            <a:spAutoFit/>
          </a:bodyPr>
          <a:lstStyle>
            <a:lvl1pPr>
              <a:lnSpc>
                <a:spcPct val="115000"/>
              </a:lnSpc>
              <a:spcBef>
                <a:spcPts val="1100"/>
              </a:spcBef>
              <a:defRPr sz="2000" b="1">
                <a:solidFill>
                  <a:srgbClr val="FF000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IIITV &amp; IIITV-ICD</a:t>
            </a:r>
          </a:p>
        </p:txBody>
      </p:sp>
      <p:pic>
        <p:nvPicPr>
          <p:cNvPr id="155" name="Picture 2" descr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718" y="36720"/>
            <a:ext cx="1126803" cy="1126801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Title Text"/>
          <p:cNvSpPr txBox="1">
            <a:spLocks noGrp="1"/>
          </p:cNvSpPr>
          <p:nvPr>
            <p:ph type="title"/>
          </p:nvPr>
        </p:nvSpPr>
        <p:spPr>
          <a:xfrm>
            <a:off x="457200" y="205199"/>
            <a:ext cx="8228880" cy="858242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8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15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ClrTx/>
              <a:buSzTx/>
              <a:buFontTx/>
              <a:buNone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1pPr>
            <a:lvl2pPr marL="0" indent="0" algn="l">
              <a:lnSpc>
                <a:spcPct val="100000"/>
              </a:lnSpc>
              <a:buClrTx/>
              <a:buSzTx/>
              <a:buFontTx/>
              <a:buNone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2pPr>
            <a:lvl3pPr marL="0" indent="0" algn="l">
              <a:lnSpc>
                <a:spcPct val="100000"/>
              </a:lnSpc>
              <a:buClrTx/>
              <a:buSzTx/>
              <a:buFontTx/>
              <a:buNone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3pPr>
            <a:lvl4pPr marL="0" indent="0" algn="l">
              <a:lnSpc>
                <a:spcPct val="100000"/>
              </a:lnSpc>
              <a:buClrTx/>
              <a:buSzTx/>
              <a:buFontTx/>
              <a:buNone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4pPr>
            <a:lvl5pPr marL="0" indent="0" algn="l">
              <a:lnSpc>
                <a:spcPct val="100000"/>
              </a:lnSpc>
              <a:buClrTx/>
              <a:buSzTx/>
              <a:buFontTx/>
              <a:buNone/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3681" y="4700249"/>
            <a:ext cx="336839" cy="318422"/>
          </a:xfrm>
          <a:prstGeom prst="rect">
            <a:avLst/>
          </a:prstGeom>
        </p:spPr>
        <p:txBody>
          <a:bodyPr lIns="91437" tIns="91437" rIns="91437" bIns="91437">
            <a:spAutoFit/>
          </a:bodyPr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itle Text"/>
          <p:cNvSpPr txBox="1">
            <a:spLocks noGrp="1"/>
          </p:cNvSpPr>
          <p:nvPr>
            <p:ph type="title"/>
          </p:nvPr>
        </p:nvSpPr>
        <p:spPr>
          <a:xfrm>
            <a:off x="1657350" y="1597817"/>
            <a:ext cx="5829300" cy="1102521"/>
          </a:xfrm>
          <a:prstGeom prst="rect">
            <a:avLst/>
          </a:prstGeom>
        </p:spPr>
        <p:txBody>
          <a:bodyPr lIns="34289" tIns="34289" rIns="34289" bIns="34289" anchor="ctr"/>
          <a:lstStyle>
            <a:lvl1pPr defTabSz="685800">
              <a:defRPr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16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171700" y="2914650"/>
            <a:ext cx="4800600" cy="1314450"/>
          </a:xfrm>
          <a:prstGeom prst="rect">
            <a:avLst/>
          </a:prstGeom>
        </p:spPr>
        <p:txBody>
          <a:bodyPr lIns="34289" tIns="34289" rIns="34289" bIns="34289"/>
          <a:lstStyle>
            <a:lvl1pPr marL="0" indent="0" defTabSz="6858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indent="0" defTabSz="6858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indent="0" defTabSz="6858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indent="0" defTabSz="6858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indent="0" defTabSz="685800">
              <a:lnSpc>
                <a:spcPct val="100000"/>
              </a:lnSpc>
              <a:spcBef>
                <a:spcPts val="5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460960" y="4812658"/>
            <a:ext cx="197141" cy="183053"/>
          </a:xfrm>
          <a:prstGeom prst="rect">
            <a:avLst/>
          </a:prstGeom>
        </p:spPr>
        <p:txBody>
          <a:bodyPr lIns="34289" tIns="34289" rIns="34289" bIns="34289">
            <a:spAutoFit/>
          </a:bodyPr>
          <a:lstStyle>
            <a:lvl1pPr defTabSz="685800"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x%"/>
          <p:cNvSpPr txBox="1">
            <a:spLocks noGrp="1"/>
          </p:cNvSpPr>
          <p:nvPr>
            <p:ph type="title" hasCustomPrompt="1"/>
          </p:nvPr>
        </p:nvSpPr>
        <p:spPr>
          <a:xfrm>
            <a:off x="311698" y="1106125"/>
            <a:ext cx="8520604" cy="1963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 anchor="b">
            <a:normAutofit/>
          </a:bodyPr>
          <a:lstStyle/>
          <a:p>
            <a:r>
              <a:t>xx%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11698" y="3152225"/>
            <a:ext cx="8520604" cy="130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4349" y="4700821"/>
            <a:ext cx="336809" cy="318392"/>
          </a:xfrm>
          <a:prstGeom prst="rect">
            <a:avLst/>
          </a:prstGeom>
          <a:ln w="12700">
            <a:miter lim="400000"/>
          </a:ln>
        </p:spPr>
        <p:txBody>
          <a:bodyPr wrap="none" lIns="91422" tIns="91422" rIns="91422" bIns="91422" anchor="ctr">
            <a:normAutofit/>
          </a:bodyPr>
          <a:lstStyle>
            <a:lvl1pPr algn="r">
              <a:defRPr sz="1000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57200" marR="0" indent="-342900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1pPr>
      <a:lvl2pPr marL="1005114" marR="0" indent="-408213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2pPr>
      <a:lvl3pPr marL="1462314" marR="0" indent="-408214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3pPr>
      <a:lvl4pPr marL="1919514" marR="0" indent="-408214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4pPr>
      <a:lvl5pPr marL="2376714" marR="0" indent="-408214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5pPr>
      <a:lvl6pPr marL="2833914" marR="0" indent="-408214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6pPr>
      <a:lvl7pPr marL="3291113" marR="0" indent="-408214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●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7pPr>
      <a:lvl8pPr marL="3748313" marR="0" indent="-408213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○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8pPr>
      <a:lvl9pPr marL="4205513" marR="0" indent="-408213" algn="ctr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/>
        <a:buChar char="■"/>
        <a:tabLst/>
        <a:defRPr sz="1800" b="0" i="0" u="none" strike="noStrike" cap="none" spc="0" baseline="0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.jpeg"/><Relationship Id="rId7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/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/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/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/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/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IN" dirty="0">
                <a:solidFill>
                  <a:srgbClr val="00B050"/>
                </a:solidFill>
                <a:sym typeface="Helvetica"/>
              </a:rPr>
              <a:t>(GenAI-Health – 2026)</a:t>
            </a:r>
            <a:endParaRPr dirty="0"/>
          </a:p>
        </p:txBody>
      </p:sp>
      <p:sp>
        <p:nvSpPr>
          <p:cNvPr id="181" name="Google Shape;59;p12"/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182" name="Google Shape;60;p12" descr="Google Shape;60;p12"/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1B0228-B374-8305-1820-676FA895F1FE}"/>
              </a:ext>
            </a:extLst>
          </p:cNvPr>
          <p:cNvSpPr txBox="1"/>
          <p:nvPr/>
        </p:nvSpPr>
        <p:spPr>
          <a:xfrm>
            <a:off x="1774557" y="2764434"/>
            <a:ext cx="5672379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Foundations of LLMs: 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From Tokens to In-Context Learning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EF5D4C-F518-39F6-1D3F-65D965B707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214" y="1596323"/>
            <a:ext cx="3742256" cy="6741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04D57F-7962-4254-E27C-6BFC7FAB0CEB}"/>
              </a:ext>
            </a:extLst>
          </p:cNvPr>
          <p:cNvSpPr txBox="1"/>
          <p:nvPr/>
        </p:nvSpPr>
        <p:spPr>
          <a:xfrm>
            <a:off x="247972" y="650929"/>
            <a:ext cx="8632555" cy="738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ANRF-PAIR Sponsored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b="1" dirty="0"/>
              <a:t>Karyashala on LLMs and GenAI: Foundations, Python  Implementation, and Healthcare Applications 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b="1" dirty="0">
                <a:solidFill>
                  <a:srgbClr val="FF0000"/>
                </a:solidFill>
              </a:rPr>
              <a:t>February 28 &amp; March 1, 2026</a:t>
            </a:r>
            <a:endParaRPr kumimoji="0" lang="en-IN" sz="14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71E813-35F7-303A-1A7D-6BEA7C4D715F}"/>
              </a:ext>
            </a:extLst>
          </p:cNvPr>
          <p:cNvSpPr txBox="1"/>
          <p:nvPr/>
        </p:nvSpPr>
        <p:spPr>
          <a:xfrm>
            <a:off x="3440624" y="2402237"/>
            <a:ext cx="2061274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IN" i="1" dirty="0">
                <a:solidFill>
                  <a:srgbClr val="7030A0"/>
                </a:solidFill>
              </a:rPr>
              <a:t>Hands-on Session on</a:t>
            </a:r>
            <a:endParaRPr kumimoji="0" lang="en-IN" sz="1400" b="0" i="1" u="none" strike="noStrike" cap="none" spc="0" normalizeH="0" baseline="0" dirty="0">
              <a:ln>
                <a:noFill/>
              </a:ln>
              <a:solidFill>
                <a:srgbClr val="7030A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160558-B7E0-518B-D0D3-859C053FAD8B}"/>
              </a:ext>
            </a:extLst>
          </p:cNvPr>
          <p:cNvSpPr txBox="1"/>
          <p:nvPr/>
        </p:nvSpPr>
        <p:spPr>
          <a:xfrm>
            <a:off x="1828801" y="3487119"/>
            <a:ext cx="5346973" cy="2462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Understanding Tokenization, Embeddings, Attention, and Prompting in Modern Generative AI</a:t>
            </a:r>
            <a:endParaRPr kumimoji="0" lang="en-IN" sz="1000" b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D615-CAAC-EDED-99E0-053DE489B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6BD29E23-DBCB-D19D-FEBD-FDB2E0464EFD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6BFB80AC-32B6-0E5E-01FB-F0544D32F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E97E9767-CB4C-CD08-9319-694F8E5B1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2A1D2EA7-3F6A-534D-EE47-EDD88353F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15231FB7-0F24-E965-E112-2794A2C9B36E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IN" dirty="0">
                <a:solidFill>
                  <a:srgbClr val="0070C0"/>
                </a:solidFill>
                <a:sym typeface="Helvetica"/>
              </a:rPr>
              <a:t>Topics to be covered</a:t>
            </a: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372E1E0F-5477-02E0-9627-655EB423590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30E61257-B0F1-C537-126F-26AF5083574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EE67C4-0D97-1DE2-DE7E-F29A6CF7EC0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719" y="3742838"/>
            <a:ext cx="1999281" cy="3601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7368B9-C51D-8737-4DD1-0F92EE5E20AF}"/>
              </a:ext>
            </a:extLst>
          </p:cNvPr>
          <p:cNvSpPr txBox="1"/>
          <p:nvPr/>
        </p:nvSpPr>
        <p:spPr>
          <a:xfrm>
            <a:off x="1162373" y="1061634"/>
            <a:ext cx="5690015" cy="2031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Large Language Models (LLMs) processing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Tokenization fundamentals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Embedding space intuition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Transformer self-attention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Prompt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In-context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Retrieval Augmented Generation (RAG) overview</a:t>
            </a: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n-ea"/>
              <a:cs typeface="+mn-cs"/>
              <a:sym typeface="Helvetic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214108-3D9F-10C2-5087-56D9FC2C8881}"/>
              </a:ext>
            </a:extLst>
          </p:cNvPr>
          <p:cNvSpPr txBox="1"/>
          <p:nvPr/>
        </p:nvSpPr>
        <p:spPr>
          <a:xfrm>
            <a:off x="0" y="3835831"/>
            <a:ext cx="1968285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  <a:sym typeface="Helvetica"/>
              </a:rPr>
              <a:t>(GenAI-Health – 2026)</a:t>
            </a:r>
          </a:p>
        </p:txBody>
      </p:sp>
    </p:spTree>
    <p:extLst>
      <p:ext uri="{BB962C8B-B14F-4D97-AF65-F5344CB8AC3E}">
        <p14:creationId xmlns:p14="http://schemas.microsoft.com/office/powerpoint/2010/main" val="100427861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D95D-1FEF-4636-2A87-FAE1008AD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1083D677-0F66-0CAF-37BD-1E24899BBC03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DDAE2193-36E8-67C7-9D3E-1F1A03F4E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368CD0CB-BD3F-5CA7-8462-72A4A9094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5FE4739B-E401-AD5A-7440-0B3326442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54D1E7A2-CD71-75C6-9960-37F73C5532E4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IN" dirty="0">
                <a:solidFill>
                  <a:srgbClr val="0070C0"/>
                </a:solidFill>
              </a:rPr>
              <a:t>LLMs Processing Pipeline</a:t>
            </a: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8E802A4B-0E62-66F9-99A0-54F42F0EBE93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00FC2CC8-EF2D-3537-B2E6-62419650FE5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A0BD07-8AB3-4437-26E1-9E69A6F832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9" y="705174"/>
            <a:ext cx="6741763" cy="343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85612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C2914-52C4-1470-7B97-20EC5C02D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D5105C09-9BC7-EF05-26D3-E9FCB721DCD3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D931864A-5DD6-6F99-42E0-C1D5044D6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5F9417A3-5966-EB5A-A664-C06FA5933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DEFB391C-EF1E-9544-EF7B-2F7D14DF2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9DF50758-39DC-3932-EAFD-E3D6FA073606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IN" dirty="0">
                <a:solidFill>
                  <a:schemeClr val="accent1"/>
                </a:solidFill>
              </a:rPr>
              <a:t>Tokenization Fundamentals</a:t>
            </a:r>
            <a:endParaRPr lang="en-IN" dirty="0">
              <a:solidFill>
                <a:schemeClr val="accent1"/>
              </a:solidFill>
              <a:sym typeface="Helvetica"/>
            </a:endParaRP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6FA1F500-B9DE-C80D-5362-FE19D85DDCB3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D2CB835E-D155-BA79-0ACC-40429ED2AA3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D92F54-6E11-CC25-198B-0A7857ECFB15}"/>
              </a:ext>
            </a:extLst>
          </p:cNvPr>
          <p:cNvSpPr txBox="1"/>
          <p:nvPr/>
        </p:nvSpPr>
        <p:spPr>
          <a:xfrm>
            <a:off x="1185620" y="712922"/>
            <a:ext cx="5393460" cy="18158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Process of dividing text into a set of meaningful units.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Enables machines to</a:t>
            </a:r>
            <a:r>
              <a:rPr lang="en-IN" dirty="0"/>
              <a:t> understand and process human language</a:t>
            </a: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I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Text Processing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/>
              <a:t>Enables effective analysis and feature extraction</a:t>
            </a: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IN" b="1" dirty="0"/>
              <a:t>Language Understanding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/>
              <a:t>Helps in understanding semantics and structure of language</a:t>
            </a:r>
          </a:p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I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Information</a:t>
            </a:r>
            <a:r>
              <a:rPr lang="en-IN" b="1" dirty="0"/>
              <a:t> Retrieval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Efficient information retrieval and text mining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ECB2BF-F2E4-DC99-F694-004A10BF2148}"/>
              </a:ext>
            </a:extLst>
          </p:cNvPr>
          <p:cNvSpPr txBox="1"/>
          <p:nvPr/>
        </p:nvSpPr>
        <p:spPr>
          <a:xfrm>
            <a:off x="1154623" y="2541723"/>
            <a:ext cx="5856727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Helps in various NLP tasks such as analysis, classification and more.</a:t>
            </a: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78702533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20A7D-6079-173E-D9A9-6ABAE780E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36BC6930-EB92-8F56-8CA4-583A294104E0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10CC60B7-5BC3-4874-1A67-2E1D94A97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CA8B9311-09F9-A53A-4796-C1CEA1B81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F76822CA-89BD-864E-2B16-2763E8546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384779F1-8CE6-0BFC-BEE2-63FFCCDF36C8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IN" dirty="0">
                <a:solidFill>
                  <a:schemeClr val="accent1"/>
                </a:solidFill>
              </a:rPr>
              <a:t>Tokenization Pipeline</a:t>
            </a:r>
            <a:endParaRPr lang="en-IN" dirty="0">
              <a:solidFill>
                <a:schemeClr val="accent1"/>
              </a:solidFill>
              <a:sym typeface="Helvetica"/>
            </a:endParaRP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47281997-06D5-F75D-384F-DBEC07B21492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3C6FC5E1-6283-E573-2B82-B94503D025C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D18F20-8A15-0556-482D-A3766E54BF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647" y="831527"/>
            <a:ext cx="4876854" cy="333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6704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83214-C1AD-6A59-9333-1E9A7D77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0810C5FC-5960-BE45-855B-6F3911470B87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11D71A82-467B-CBD4-63DB-79966C146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D7C2A90F-CA6D-E2F0-BA81-D3A1F9A70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66C6EDF8-0508-CFF2-4B78-7A740BDFE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81045856-A6AE-23EC-3152-DDE9E43B0E8B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IN" dirty="0">
                <a:solidFill>
                  <a:srgbClr val="000000"/>
                </a:solidFill>
                <a:sym typeface="Helvetica"/>
              </a:rPr>
              <a:t>Tokenization Techniques</a:t>
            </a: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479FCBC9-3147-4BC8-6ECC-B6BF63BBE2D2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8A29F7BB-D723-B144-E14E-42EE61E2A2D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6CAFE4-C704-DB37-7321-5A95D5E09887}"/>
              </a:ext>
            </a:extLst>
          </p:cNvPr>
          <p:cNvSpPr/>
          <p:nvPr/>
        </p:nvSpPr>
        <p:spPr>
          <a:xfrm>
            <a:off x="294467" y="849693"/>
            <a:ext cx="3921072" cy="141576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IN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1) Word Tokenization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Splits text into full words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Intuitive and human-readable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Suffers from large vocabulary and OOV issues</a:t>
            </a:r>
          </a:p>
          <a:p>
            <a:r>
              <a:rPr lang="en-US" sz="1200" b="1" dirty="0"/>
              <a:t>Example:</a:t>
            </a:r>
            <a:br>
              <a:rPr lang="en-US" sz="1200" dirty="0"/>
            </a:br>
            <a:r>
              <a:rPr lang="en-US" sz="1200" dirty="0"/>
              <a:t>“Patient has high fever and headache."</a:t>
            </a:r>
            <a:br>
              <a:rPr lang="en-US" sz="1200" dirty="0"/>
            </a:br>
            <a:r>
              <a:rPr lang="en-US" sz="1200" dirty="0"/>
              <a:t>→ [“Patient", “has", “high", “fever", “and“, “headache”, “.”]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7D0839-1647-CC03-19D1-C07B8D5C3999}"/>
              </a:ext>
            </a:extLst>
          </p:cNvPr>
          <p:cNvSpPr/>
          <p:nvPr/>
        </p:nvSpPr>
        <p:spPr>
          <a:xfrm>
            <a:off x="1531753" y="2582814"/>
            <a:ext cx="3505199" cy="138499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en-US" b="1" dirty="0"/>
              <a:t>2) Character-Level Tokenization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Splits text into individual characters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small vocabulary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Produces very long sequences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→ [“P", “a", “t", “</a:t>
            </a:r>
            <a:r>
              <a:rPr lang="en-US" dirty="0" err="1"/>
              <a:t>i</a:t>
            </a:r>
            <a:r>
              <a:rPr lang="en-US" dirty="0"/>
              <a:t>", “e", “n", “t", “ ”, “h”, …]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04270C-BA85-CCC2-5B59-BE0DBE0D5094}"/>
              </a:ext>
            </a:extLst>
          </p:cNvPr>
          <p:cNvSpPr/>
          <p:nvPr/>
        </p:nvSpPr>
        <p:spPr>
          <a:xfrm>
            <a:off x="5279760" y="814958"/>
            <a:ext cx="3461284" cy="1815878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en-US" b="1" dirty="0"/>
              <a:t>3) Subword-Level Tokenization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Splits words into meaningful sub-units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Handles rare and morphologically complex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by most modern LLMs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IN" dirty="0"/>
              <a:t>thrombocytopenia</a:t>
            </a:r>
            <a:br>
              <a:rPr lang="en-US" dirty="0"/>
            </a:br>
            <a:r>
              <a:rPr lang="en-US" dirty="0"/>
              <a:t>→ ["thrombo", "cyto", "penia"]</a:t>
            </a:r>
          </a:p>
        </p:txBody>
      </p:sp>
    </p:spTree>
    <p:extLst>
      <p:ext uri="{BB962C8B-B14F-4D97-AF65-F5344CB8AC3E}">
        <p14:creationId xmlns:p14="http://schemas.microsoft.com/office/powerpoint/2010/main" val="153392330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A1019-EBE0-ADAD-EB3E-2B6080F23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7D9154FA-E3EA-15E0-4694-7766FCD5C529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3E8ACAFB-C25E-F124-EF40-5BD8847A6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F2E6B30B-F746-54D2-F810-206004BB8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949C44D5-639D-2D93-F347-5E3349561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96BB4C40-54A6-BEFB-3436-892DCB97D89D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Empirical Behavior of Subword Tokenization</a:t>
            </a:r>
            <a:endParaRPr lang="en-IN" dirty="0">
              <a:solidFill>
                <a:schemeClr val="accent1"/>
              </a:solidFill>
              <a:sym typeface="Helvetica"/>
            </a:endParaRP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B03E6228-48C2-258D-C287-22BC63292BFF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87E95AE6-5C3F-1491-8B93-C0493E5511C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5C424E-F093-1CD0-78D6-C245D00AEC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5247" y="844659"/>
            <a:ext cx="4260608" cy="2905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09AD55-591C-A2B8-C49A-DE8FBFE5B20E}"/>
              </a:ext>
            </a:extLst>
          </p:cNvPr>
          <p:cNvSpPr txBox="1"/>
          <p:nvPr/>
        </p:nvSpPr>
        <p:spPr>
          <a:xfrm>
            <a:off x="3928820" y="3766087"/>
            <a:ext cx="4981488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r>
              <a:rPr lang="en-US" b="1" dirty="0"/>
              <a:t>Conceptual trend:</a:t>
            </a:r>
            <a:r>
              <a:rPr lang="en-US" dirty="0"/>
              <a:t> rarer words require more subword pieces.</a:t>
            </a: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52C691-506A-631D-1D79-8F22CA4AC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284009"/>
              </p:ext>
            </p:extLst>
          </p:nvPr>
        </p:nvGraphicFramePr>
        <p:xfrm>
          <a:off x="340962" y="1540620"/>
          <a:ext cx="3921072" cy="1280160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980268">
                  <a:extLst>
                    <a:ext uri="{9D8B030D-6E8A-4147-A177-3AD203B41FA5}">
                      <a16:colId xmlns:a16="http://schemas.microsoft.com/office/drawing/2014/main" val="492620956"/>
                    </a:ext>
                  </a:extLst>
                </a:gridCol>
                <a:gridCol w="980268">
                  <a:extLst>
                    <a:ext uri="{9D8B030D-6E8A-4147-A177-3AD203B41FA5}">
                      <a16:colId xmlns:a16="http://schemas.microsoft.com/office/drawing/2014/main" val="1955727314"/>
                    </a:ext>
                  </a:extLst>
                </a:gridCol>
                <a:gridCol w="980268">
                  <a:extLst>
                    <a:ext uri="{9D8B030D-6E8A-4147-A177-3AD203B41FA5}">
                      <a16:colId xmlns:a16="http://schemas.microsoft.com/office/drawing/2014/main" val="1739145423"/>
                    </a:ext>
                  </a:extLst>
                </a:gridCol>
                <a:gridCol w="980268">
                  <a:extLst>
                    <a:ext uri="{9D8B030D-6E8A-4147-A177-3AD203B41FA5}">
                      <a16:colId xmlns:a16="http://schemas.microsoft.com/office/drawing/2014/main" val="1848494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Vocabulary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Sequence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OOV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2000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Very 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8542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Character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Very 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Very 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751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Subword (BPE)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97762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D36C8AF-54CD-1DE2-741D-63D5DFDEEEA9}"/>
              </a:ext>
            </a:extLst>
          </p:cNvPr>
          <p:cNvSpPr txBox="1"/>
          <p:nvPr/>
        </p:nvSpPr>
        <p:spPr>
          <a:xfrm>
            <a:off x="180215" y="2834764"/>
            <a:ext cx="4244551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200" b="1" i="1" dirty="0"/>
              <a:t>Table 1. Comparison of various tokenization techniques</a:t>
            </a:r>
            <a:endParaRPr lang="en-IN" sz="1200" b="1" i="1" dirty="0"/>
          </a:p>
        </p:txBody>
      </p:sp>
    </p:spTree>
    <p:extLst>
      <p:ext uri="{BB962C8B-B14F-4D97-AF65-F5344CB8AC3E}">
        <p14:creationId xmlns:p14="http://schemas.microsoft.com/office/powerpoint/2010/main" val="1878544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8C5AD-C0B5-2839-A90F-DC1A83235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C63733D8-B35E-A689-3E4F-AFA141AE4C09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AFFA3FDE-67A3-6C1C-B21F-A628CDC180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A56D7AED-C581-CF32-11DA-17099ABB8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DF930E66-651A-955B-48C3-99BE5CB1B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0866DEB4-BCF0-D7E2-039A-033049FB5593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Embeddings: Mapping Tokens to Semantic Space</a:t>
            </a:r>
            <a:endParaRPr lang="en-IN" dirty="0">
              <a:solidFill>
                <a:schemeClr val="accent1"/>
              </a:solidFill>
              <a:sym typeface="Helvetica"/>
            </a:endParaRP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B0479D51-5065-600A-4DC1-064E729B394B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43E3071A-B2BB-5EF8-92AF-44201B435BC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1038AE-4570-BE5E-7477-AEA219B9BF93}"/>
              </a:ext>
            </a:extLst>
          </p:cNvPr>
          <p:cNvSpPr txBox="1"/>
          <p:nvPr/>
        </p:nvSpPr>
        <p:spPr>
          <a:xfrm>
            <a:off x="308028" y="851927"/>
            <a:ext cx="4645616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are Embeddings?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Embeddings are dense, continuous vector representations that map discrete token IDs into a semantic vector space.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B6E0C-6743-7D0E-DE0B-8BE6810D66B9}"/>
              </a:ext>
            </a:extLst>
          </p:cNvPr>
          <p:cNvSpPr txBox="1"/>
          <p:nvPr/>
        </p:nvSpPr>
        <p:spPr>
          <a:xfrm>
            <a:off x="4560378" y="844943"/>
            <a:ext cx="4645616" cy="1169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Embeddings are Needed?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Token IDs are arbitrary integers (no semantic meaning)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Neural models require continuous representations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Embeddings capture </a:t>
            </a:r>
            <a:r>
              <a:rPr lang="en-US" b="1" dirty="0"/>
              <a:t>distributional semantics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similarity computation in vector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D61B18-D0E3-B9ED-8A20-9EB3D7688899}"/>
                  </a:ext>
                </a:extLst>
              </p:cNvPr>
              <p:cNvSpPr txBox="1"/>
              <p:nvPr/>
            </p:nvSpPr>
            <p:spPr>
              <a:xfrm>
                <a:off x="292530" y="1919826"/>
                <a:ext cx="4645616" cy="160800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Mathematical Formulation</a:t>
                </a:r>
              </a:p>
              <a:p>
                <a:pPr>
                  <a:buNone/>
                </a:pPr>
                <a:r>
                  <a:rPr lang="en-IN" dirty="0"/>
                  <a:t>Each token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is mapped via embedding matrix: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>
                              <a:latin typeface="Cambria Math" panose="02040503050406030204" pitchFamily="18" charset="0"/>
                            </a:rPr>
                            <m:t>𝐞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 b="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∣×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IN" dirty="0"/>
                  <a:t>: vocabulary size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IN" dirty="0"/>
                  <a:t>: embedding dimension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D61B18-D0E3-B9ED-8A20-9EB3D7688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30" y="1919826"/>
                <a:ext cx="4645616" cy="1608004"/>
              </a:xfrm>
              <a:prstGeom prst="rect">
                <a:avLst/>
              </a:prstGeom>
              <a:blipFill>
                <a:blip r:embed="rId6"/>
                <a:stretch>
                  <a:fillRect l="-394" t="-758" b="-227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BD3DD7B-B639-CFFB-18CE-CFD893ECB409}"/>
              </a:ext>
            </a:extLst>
          </p:cNvPr>
          <p:cNvSpPr txBox="1"/>
          <p:nvPr/>
        </p:nvSpPr>
        <p:spPr>
          <a:xfrm>
            <a:off x="4537128" y="2110355"/>
            <a:ext cx="4905214" cy="18158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</a:t>
            </a:r>
          </a:p>
          <a:p>
            <a:pPr>
              <a:buNone/>
            </a:pPr>
            <a:r>
              <a:rPr lang="en-IN" b="1" dirty="0"/>
              <a:t>Token IDs:</a:t>
            </a:r>
            <a:br>
              <a:rPr lang="en-IN" dirty="0"/>
            </a:br>
            <a:r>
              <a:rPr lang="en-IN" dirty="0"/>
              <a:t>[101, 1821, 1126, 17953]</a:t>
            </a:r>
          </a:p>
          <a:p>
            <a:pPr>
              <a:buNone/>
            </a:pPr>
            <a:r>
              <a:rPr lang="en-IN" b="1" dirty="0"/>
              <a:t>Embedding vectors (illustrative):</a:t>
            </a:r>
            <a:br>
              <a:rPr lang="en-IN" dirty="0"/>
            </a:br>
            <a:r>
              <a:rPr lang="en-IN" dirty="0"/>
              <a:t>→ high-dimensional dense vectors</a:t>
            </a:r>
          </a:p>
          <a:p>
            <a:pPr>
              <a:buNone/>
            </a:pPr>
            <a:r>
              <a:rPr lang="en-IN" b="1" dirty="0"/>
              <a:t>Semantic intuition: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researcher ≈ scientist → close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researcher ≠ banana → far</a:t>
            </a:r>
          </a:p>
        </p:txBody>
      </p:sp>
    </p:spTree>
    <p:extLst>
      <p:ext uri="{BB962C8B-B14F-4D97-AF65-F5344CB8AC3E}">
        <p14:creationId xmlns:p14="http://schemas.microsoft.com/office/powerpoint/2010/main" val="276479352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651DB-AA38-2328-A390-4420CF1C5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B893FF46-E431-B638-E709-4F2DCD3D181F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CAF5065B-BE9F-4BE1-B27A-E82FA7E59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2BC68FF4-9185-539B-5D08-CF53C7C91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007E0F23-2D7B-4002-A2A8-44EF76ECA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663B62F2-4778-3133-282F-E5F0F36EACBA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IN" dirty="0">
                <a:solidFill>
                  <a:schemeClr val="accent1"/>
                </a:solidFill>
                <a:sym typeface="Helvetica"/>
              </a:rPr>
              <a:t>Semantic Similarity in Embedding Space</a:t>
            </a: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E7524C3E-B334-E963-445E-E307AAEC0448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711C515A-9B28-F45D-2659-3CCCD848C68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7EC2F7-ACF8-9250-84DA-FC2537C32FCA}"/>
              </a:ext>
            </a:extLst>
          </p:cNvPr>
          <p:cNvSpPr txBox="1"/>
          <p:nvPr/>
        </p:nvSpPr>
        <p:spPr>
          <a:xfrm>
            <a:off x="1292171" y="3663336"/>
            <a:ext cx="5558080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Semantically similar sentences produce higher cosine similarity.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1E31AE-622B-0729-028A-D265A3A032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241" y="811915"/>
            <a:ext cx="4410518" cy="29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9914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D9FFA-8487-8B34-022C-24F8091B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AD9E6AAA-E3A6-E9C3-6405-7CCE29F5FAE6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DFDA2C46-67F8-E495-FB61-AD5008274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8424462F-0C7E-DAA8-CB64-5215D01D4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116EF614-EB29-5303-A6A3-E31A552BE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9E67F453-91E8-22A8-65B3-D4B7A4745CDA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IN" dirty="0">
                <a:solidFill>
                  <a:schemeClr val="accent1"/>
                </a:solidFill>
              </a:rPr>
              <a:t>Transformer and Self-Attention Mechanism</a:t>
            </a: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10A25355-2059-612D-4E56-D9CFEBD424BF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CA366122-639D-1F9C-CA1C-80FAFED4BC0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157B72-F110-D8A3-DDD3-E5E0A2EA2C20}"/>
              </a:ext>
            </a:extLst>
          </p:cNvPr>
          <p:cNvSpPr txBox="1"/>
          <p:nvPr/>
        </p:nvSpPr>
        <p:spPr>
          <a:xfrm>
            <a:off x="269283" y="838727"/>
            <a:ext cx="4163232" cy="16004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Transformers?</a:t>
            </a:r>
          </a:p>
          <a:p>
            <a:pPr>
              <a:buNone/>
            </a:pPr>
            <a:r>
              <a:rPr lang="en-US" dirty="0"/>
              <a:t>Traditional sequence models (RNNs/LSTMs):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process tokens sequentially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struggle with long-range dependencies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limited parallelization</a:t>
            </a:r>
          </a:p>
          <a:p>
            <a:pPr>
              <a:buNone/>
            </a:pPr>
            <a:r>
              <a:rPr lang="en-US" dirty="0"/>
              <a:t>Transformers address these limitations using </a:t>
            </a:r>
            <a:r>
              <a:rPr lang="en-US" b="1" dirty="0"/>
              <a:t>self-attention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B80A53-2DB8-F89A-6141-5B3392F54476}"/>
              </a:ext>
            </a:extLst>
          </p:cNvPr>
          <p:cNvSpPr txBox="1"/>
          <p:nvPr/>
        </p:nvSpPr>
        <p:spPr>
          <a:xfrm>
            <a:off x="4678550" y="930184"/>
            <a:ext cx="4008250" cy="1169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Self-Attention: Core Idea</a:t>
            </a:r>
          </a:p>
          <a:p>
            <a:pPr>
              <a:buNone/>
            </a:pPr>
            <a:r>
              <a:rPr lang="en-US" dirty="0"/>
              <a:t>Self-attention allows each token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attend to all other tokens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compute contextual relevance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build context-aware representations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C46DF4-904F-0D75-227A-8031E926E76C}"/>
              </a:ext>
            </a:extLst>
          </p:cNvPr>
          <p:cNvSpPr txBox="1"/>
          <p:nvPr/>
        </p:nvSpPr>
        <p:spPr>
          <a:xfrm>
            <a:off x="2007032" y="2403288"/>
            <a:ext cx="4386019" cy="16004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Intuition Example</a:t>
            </a:r>
          </a:p>
          <a:p>
            <a:pPr>
              <a:buNone/>
            </a:pPr>
            <a:r>
              <a:rPr lang="en-US" b="1" dirty="0"/>
              <a:t>Sentence:</a:t>
            </a:r>
            <a:endParaRPr lang="en-US" dirty="0"/>
          </a:p>
          <a:p>
            <a:r>
              <a:rPr lang="en-US" dirty="0"/>
              <a:t>Patient has high fever and headache.</a:t>
            </a:r>
          </a:p>
          <a:p>
            <a:r>
              <a:rPr lang="en-US" dirty="0"/>
              <a:t>Self-attention helps model: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“Patient” ↔ “has”</a:t>
            </a:r>
            <a:r>
              <a:rPr lang="en-IN" dirty="0"/>
              <a:t> → subject–verb relation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“fever” ↔ “headache”</a:t>
            </a:r>
            <a:r>
              <a:rPr lang="en-IN" dirty="0"/>
              <a:t> → symptom co-occurrence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“high” ↔ “fever”</a:t>
            </a:r>
            <a:r>
              <a:rPr lang="en-IN" dirty="0"/>
              <a:t> → modifier–symptom relation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AD4FB-5826-D4B6-85BD-FCDA302EFCE4}"/>
              </a:ext>
            </a:extLst>
          </p:cNvPr>
          <p:cNvSpPr txBox="1"/>
          <p:nvPr/>
        </p:nvSpPr>
        <p:spPr>
          <a:xfrm>
            <a:off x="6821893" y="3742841"/>
            <a:ext cx="2322107" cy="430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11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RNNs</a:t>
            </a:r>
            <a:r>
              <a:rPr kumimoji="0" lang="en-IN" sz="11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– Recurrent Neural Network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N" sz="1100" b="1" dirty="0"/>
              <a:t>LSTMs</a:t>
            </a:r>
            <a:r>
              <a:rPr lang="en-IN" sz="1100" dirty="0"/>
              <a:t> – Long Short-Term Memory</a:t>
            </a:r>
            <a:endParaRPr kumimoji="0" lang="en-IN" sz="11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2790574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68A22-7E39-1414-32FB-1E18C1493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4BE85233-2709-ED5C-53B2-942C76619790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C7C15A23-E099-DB57-2D77-C5EE1ADA5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C8568520-8088-082E-511D-B98CC9C32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3BC63191-35EE-E2C7-9EA9-F2E37C109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4B096C32-EAF5-5BAF-5099-04C8801F2046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IN" dirty="0">
                <a:solidFill>
                  <a:schemeClr val="accent1"/>
                </a:solidFill>
              </a:rPr>
              <a:t>Transformer and Self-Attention Mechanism</a:t>
            </a: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DF8A3169-0D81-2773-24C1-01C09582C1B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0C31DA84-83E6-174B-0683-6002EF22B40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18512C-50AA-12AB-BAEA-868672E70BE8}"/>
              </a:ext>
            </a:extLst>
          </p:cNvPr>
          <p:cNvSpPr txBox="1"/>
          <p:nvPr/>
        </p:nvSpPr>
        <p:spPr>
          <a:xfrm>
            <a:off x="1165871" y="3791816"/>
            <a:ext cx="4642624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Heatmap illustrates how tokens attend to each other.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DAFBDE-8773-A3EC-4EC6-820DB38D6A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657" y="732329"/>
            <a:ext cx="3585120" cy="30802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DB48B20-6BB6-166A-564D-3A109EAB1C4C}"/>
              </a:ext>
            </a:extLst>
          </p:cNvPr>
          <p:cNvSpPr txBox="1"/>
          <p:nvPr/>
        </p:nvSpPr>
        <p:spPr>
          <a:xfrm>
            <a:off x="5904855" y="3890075"/>
            <a:ext cx="3239145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sz="1100" b="1" dirty="0"/>
              <a:t>Note: </a:t>
            </a:r>
            <a:r>
              <a:rPr lang="en-US" sz="1100" dirty="0"/>
              <a:t>Strongest attention per row is </a:t>
            </a:r>
            <a:r>
              <a:rPr lang="en-US" sz="1100" b="1" dirty="0"/>
              <a:t>bold + white.</a:t>
            </a:r>
            <a:endParaRPr kumimoji="0" lang="en-IN" sz="11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71322252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69208-2EFE-60FD-4D7D-75CA48A6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48CF6164-2CCC-AA3F-D9E6-FE0491930172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33CB638E-5396-12C0-EA81-80983598D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1563D225-3853-0542-57A9-BB7D411CC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94051A1A-45FE-8A9F-F8C4-288F29818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ACC9E179-874B-629B-B06A-6EF12C1A31A5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IN" dirty="0">
                <a:solidFill>
                  <a:schemeClr val="accent1"/>
                </a:solidFill>
              </a:rPr>
              <a:t>Transformer and Self-Attention Mechanism</a:t>
            </a: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8C5401F5-C4FB-E949-7366-2075B345D8FF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8E86519B-DE4D-4838-95C1-39EB087DC04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805D3A-C58E-12C6-77C1-4D0E1A118DDF}"/>
                  </a:ext>
                </a:extLst>
              </p:cNvPr>
              <p:cNvSpPr txBox="1"/>
              <p:nvPr/>
            </p:nvSpPr>
            <p:spPr>
              <a:xfrm>
                <a:off x="1175933" y="842438"/>
                <a:ext cx="4645616" cy="864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Mathematical Form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Attention</m:t>
                      </m:r>
                      <m:d>
                        <m:dPr>
                          <m:sepChr m:val=",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ar-AE" b="0" i="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ar-AE" b="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805D3A-C58E-12C6-77C1-4D0E1A118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933" y="842438"/>
                <a:ext cx="4645616" cy="864596"/>
              </a:xfrm>
              <a:prstGeom prst="rect">
                <a:avLst/>
              </a:prstGeom>
              <a:blipFill>
                <a:blip r:embed="rId7"/>
                <a:stretch>
                  <a:fillRect l="-394" t="-14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35CC1E3-C9A6-A86E-3FF8-EC3114E6568D}"/>
              </a:ext>
            </a:extLst>
          </p:cNvPr>
          <p:cNvSpPr txBox="1"/>
          <p:nvPr/>
        </p:nvSpPr>
        <p:spPr>
          <a:xfrm>
            <a:off x="-325464" y="-69742"/>
            <a:ext cx="92394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E2391F-2701-F12C-2EAD-6568BB399394}"/>
              </a:ext>
            </a:extLst>
          </p:cNvPr>
          <p:cNvSpPr txBox="1"/>
          <p:nvPr/>
        </p:nvSpPr>
        <p:spPr>
          <a:xfrm>
            <a:off x="1495586" y="2146515"/>
            <a:ext cx="92394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D5DD86-F602-A074-55C6-89D9E9122F2C}"/>
                  </a:ext>
                </a:extLst>
              </p:cNvPr>
              <p:cNvSpPr txBox="1"/>
              <p:nvPr/>
            </p:nvSpPr>
            <p:spPr>
              <a:xfrm>
                <a:off x="1494264" y="1771628"/>
                <a:ext cx="5151863" cy="20767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r>
                  <a:rPr lang="en-US" dirty="0"/>
                  <a:t>where,</a:t>
                </a:r>
              </a:p>
              <a:p>
                <a:r>
                  <a:rPr lang="en-US" b="1" dirty="0"/>
                  <a:t>Q (Query):</a:t>
                </a:r>
                <a:r>
                  <a:rPr lang="en-US" dirty="0"/>
                  <a:t> representation of what each token is searching for</a:t>
                </a:r>
              </a:p>
              <a:p>
                <a:r>
                  <a:rPr lang="en-US" b="1" dirty="0"/>
                  <a:t>K (Key):</a:t>
                </a:r>
                <a:r>
                  <a:rPr lang="en-US" dirty="0"/>
                  <a:t> representation of what each token contains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1" dirty="0"/>
                  <a:t>(Value):</a:t>
                </a:r>
                <a:r>
                  <a:rPr lang="en-US" dirty="0"/>
                  <a:t> information carried by each token to be aggregated</a:t>
                </a:r>
              </a:p>
              <a:p>
                <a:r>
                  <a:rPr lang="en-US" b="1" dirty="0"/>
                  <a:t>QK⊤:</a:t>
                </a:r>
                <a:r>
                  <a:rPr lang="en-US" dirty="0"/>
                  <a:t> dot-product similarity between queries and keys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b="1" dirty="0"/>
                  <a:t>:</a:t>
                </a:r>
                <a:r>
                  <a:rPr lang="ar-AE" dirty="0"/>
                  <a:t> </a:t>
                </a:r>
                <a:r>
                  <a:rPr lang="en-IN" dirty="0"/>
                  <a:t>dimensionality of the key vectors</a:t>
                </a: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lang="ar-AE" b="1" dirty="0"/>
                  <a:t>:</a:t>
                </a:r>
                <a:r>
                  <a:rPr lang="ar-AE" dirty="0"/>
                  <a:t> </a:t>
                </a:r>
                <a:r>
                  <a:rPr lang="en-IN" dirty="0"/>
                  <a:t>scaling factor to stabilize attention scores</a:t>
                </a:r>
              </a:p>
              <a:p>
                <a:r>
                  <a:rPr lang="en-US" b="1" dirty="0" err="1"/>
                  <a:t>softmax</a:t>
                </a:r>
                <a:r>
                  <a:rPr lang="en-US" b="1" dirty="0"/>
                  <a:t>(·):</a:t>
                </a:r>
                <a:r>
                  <a:rPr lang="en-US" dirty="0"/>
                  <a:t> converts scores into normalized attention weights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D5DD86-F602-A074-55C6-89D9E9122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264" y="1771628"/>
                <a:ext cx="5151863" cy="2076787"/>
              </a:xfrm>
              <a:prstGeom prst="rect">
                <a:avLst/>
              </a:prstGeom>
              <a:blipFill>
                <a:blip r:embed="rId8"/>
                <a:stretch>
                  <a:fillRect l="-355" t="-58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91719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E7C29-1CE1-D4C9-11F7-DA5D02BAB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F17B3091-C4D1-2EF4-C97E-E0EA893D5EF2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B359E857-6C89-7D5D-467F-0F1E77D09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392987EB-232B-7F9F-1378-39C0AA41B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17F2A2B0-BB61-FD3D-3724-0B1594F4D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3D425F94-EB80-070D-0F18-3E6B2E9179F7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Prompt Engineering: Controlling LLM Behavior</a:t>
            </a:r>
            <a:endParaRPr lang="en-IN" dirty="0">
              <a:solidFill>
                <a:schemeClr val="accent1"/>
              </a:solidFill>
              <a:sym typeface="Helvetica"/>
            </a:endParaRP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BBF289E8-D8F4-252D-3A27-76AD06C95BFD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005B6CBD-878C-40F2-F288-DA654E3F983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4DF633-281E-EF8B-5127-1B30E2D4F9AF}"/>
              </a:ext>
            </a:extLst>
          </p:cNvPr>
          <p:cNvSpPr txBox="1"/>
          <p:nvPr/>
        </p:nvSpPr>
        <p:spPr>
          <a:xfrm>
            <a:off x="247185" y="864810"/>
            <a:ext cx="4094356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What is Prompt Engineering?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Prompt engineering is the practice of designing structured inputs to guide a Large Language Model toward desired outputs.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41179-C830-045B-D691-FD9B53B0B7BF}"/>
              </a:ext>
            </a:extLst>
          </p:cNvPr>
          <p:cNvSpPr txBox="1"/>
          <p:nvPr/>
        </p:nvSpPr>
        <p:spPr>
          <a:xfrm>
            <a:off x="276922" y="1928039"/>
            <a:ext cx="3707780" cy="16004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Prompting Matters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LLMs are </a:t>
            </a:r>
            <a:r>
              <a:rPr lang="en-US" b="1" dirty="0"/>
              <a:t>next-token predictors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Output depends heavily on input formulation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Well-designed prompts improve reliability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reduce hallucinations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task adaptation without retraining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3A6C78-CC07-09ED-E019-502038BB6BA9}"/>
              </a:ext>
            </a:extLst>
          </p:cNvPr>
          <p:cNvSpPr txBox="1"/>
          <p:nvPr/>
        </p:nvSpPr>
        <p:spPr>
          <a:xfrm>
            <a:off x="4501376" y="909561"/>
            <a:ext cx="4092497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Prompting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Role specification</a:t>
            </a:r>
            <a:r>
              <a:rPr lang="en-US" dirty="0"/>
              <a:t> (e.g., “You are an expert…”)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Clear instructions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Delimiters</a:t>
            </a:r>
            <a:r>
              <a:rPr lang="en-US" dirty="0"/>
              <a:t> for structured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Output formatting constraints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Chain-of-Thought prompting</a:t>
            </a:r>
            <a:r>
              <a:rPr lang="en-US" dirty="0"/>
              <a:t> (when needed)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CD6B1D-FD38-1497-E827-F2BAD7956780}"/>
              </a:ext>
            </a:extLst>
          </p:cNvPr>
          <p:cNvSpPr txBox="1"/>
          <p:nvPr/>
        </p:nvSpPr>
        <p:spPr>
          <a:xfrm>
            <a:off x="4501376" y="2362863"/>
            <a:ext cx="4508809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Weak prompt:</a:t>
            </a:r>
            <a:br>
              <a:rPr lang="en-US" dirty="0"/>
            </a:br>
            <a:r>
              <a:rPr lang="en-IN" dirty="0"/>
              <a:t>Explain dengue.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Improved prompt:</a:t>
            </a:r>
            <a:br>
              <a:rPr lang="en-US" dirty="0"/>
            </a:br>
            <a:r>
              <a:rPr lang="en-IN" dirty="0"/>
              <a:t>Explain dengue in 3 bullet points for a non-medical audience.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36313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22E15-F3F3-4F78-11C4-73B8B6AEC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007052ED-AD3E-E185-D9B3-2459595CD4E9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9F60F761-864C-A02B-6130-2DD7ECD68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45A224E0-7409-4158-51E3-70783D9F2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43D30945-DD86-D036-278B-9793E676A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E4B4286A-DD25-0A75-0B2F-3686EB4B11F7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IN" dirty="0">
                <a:solidFill>
                  <a:schemeClr val="accent1"/>
                </a:solidFill>
              </a:rPr>
              <a:t>In-Context Learning (ICL)</a:t>
            </a:r>
            <a:endParaRPr lang="en-IN" dirty="0">
              <a:solidFill>
                <a:schemeClr val="accent1"/>
              </a:solidFill>
              <a:sym typeface="Helvetica"/>
            </a:endParaRP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774FF356-BE79-1B0E-8B6C-2D3F765DF9B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2C84462B-8E1B-CFB9-526E-0F8FA9F9346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9A77BE-CF9B-8309-425F-2F65DC694CE6}"/>
              </a:ext>
            </a:extLst>
          </p:cNvPr>
          <p:cNvSpPr txBox="1"/>
          <p:nvPr/>
        </p:nvSpPr>
        <p:spPr>
          <a:xfrm>
            <a:off x="247185" y="864810"/>
            <a:ext cx="4094356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What is In-Context Learning?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In-Context Learning (ICL) is the ability of a Large Language Model to perform new tasks by conditioning on examples provided within the prompt — without updating model parameters.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B9235D-439F-18FF-950E-BDA68FE56795}"/>
              </a:ext>
            </a:extLst>
          </p:cNvPr>
          <p:cNvSpPr txBox="1"/>
          <p:nvPr/>
        </p:nvSpPr>
        <p:spPr>
          <a:xfrm>
            <a:off x="2878873" y="2277444"/>
            <a:ext cx="3707780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Why ICL is Powerful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retraining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Rapid task adaptation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 at inference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flexible task generalization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Core capability of modern LLMs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AE54D-DEF0-DF05-863B-CE114382018C}"/>
              </a:ext>
            </a:extLst>
          </p:cNvPr>
          <p:cNvSpPr txBox="1"/>
          <p:nvPr/>
        </p:nvSpPr>
        <p:spPr>
          <a:xfrm>
            <a:off x="4769006" y="954166"/>
            <a:ext cx="4092497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Modes of In-Context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Zero-shot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One-shot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Few-shot</a:t>
            </a:r>
          </a:p>
        </p:txBody>
      </p:sp>
    </p:spTree>
    <p:extLst>
      <p:ext uri="{BB962C8B-B14F-4D97-AF65-F5344CB8AC3E}">
        <p14:creationId xmlns:p14="http://schemas.microsoft.com/office/powerpoint/2010/main" val="240263213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34E0E-C8BF-C339-62DC-C3CF3EE7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09059106-BC1C-27EB-0858-092E84B0FF1A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B2D2CF44-0322-A11A-6457-5214EBF65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83380308-B3EC-4424-80A9-1885010AC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9F11FDEB-A180-F823-2D0F-0BE5507CC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31823F8C-1D7A-C490-66EF-64C70BFB83CE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Prompt Engineering: Controlling LLM Behavior</a:t>
            </a:r>
            <a:endParaRPr lang="en-IN" dirty="0">
              <a:solidFill>
                <a:schemeClr val="accent1"/>
              </a:solidFill>
              <a:sym typeface="Helvetica"/>
            </a:endParaRP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8CF9E38E-5077-741B-04A5-A75EA7C678DC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BB5ABEEF-9431-9E8A-DBA7-E183D331A1E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3BA54C-E6D0-C42B-AC8B-632EC2DA1FB7}"/>
              </a:ext>
            </a:extLst>
          </p:cNvPr>
          <p:cNvSpPr txBox="1"/>
          <p:nvPr/>
        </p:nvSpPr>
        <p:spPr>
          <a:xfrm>
            <a:off x="1176452" y="864810"/>
            <a:ext cx="1969704" cy="24622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1) Zero-shot</a:t>
            </a:r>
          </a:p>
          <a:p>
            <a:r>
              <a:rPr lang="en-US" b="1" dirty="0"/>
              <a:t>Definition:</a:t>
            </a:r>
            <a:r>
              <a:rPr lang="en-US" dirty="0"/>
              <a:t> Task described only via instructions (no examples).</a:t>
            </a:r>
          </a:p>
          <a:p>
            <a:r>
              <a:rPr lang="en-US" b="1" dirty="0"/>
              <a:t>Prompt:</a:t>
            </a:r>
            <a:endParaRPr lang="en-US" dirty="0"/>
          </a:p>
          <a:p>
            <a:r>
              <a:rPr lang="en-US" dirty="0"/>
              <a:t>Identify the disease from the symptom: high fever</a:t>
            </a:r>
          </a:p>
          <a:p>
            <a:r>
              <a:rPr lang="en-US" b="1" dirty="0"/>
              <a:t>Model output:</a:t>
            </a:r>
            <a:endParaRPr lang="en-US" dirty="0"/>
          </a:p>
          <a:p>
            <a:r>
              <a:rPr lang="en-IN" dirty="0"/>
              <a:t>dengue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3B8293-BB85-5A5F-F007-27198E9EEC32}"/>
              </a:ext>
            </a:extLst>
          </p:cNvPr>
          <p:cNvSpPr txBox="1"/>
          <p:nvPr/>
        </p:nvSpPr>
        <p:spPr>
          <a:xfrm>
            <a:off x="3334214" y="931864"/>
            <a:ext cx="1888716" cy="2246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2) One-shot</a:t>
            </a:r>
          </a:p>
          <a:p>
            <a:r>
              <a:rPr lang="en-US" b="1" dirty="0"/>
              <a:t>Definition:</a:t>
            </a:r>
            <a:r>
              <a:rPr lang="en-US" dirty="0"/>
              <a:t> Single demonstration provided.</a:t>
            </a:r>
          </a:p>
          <a:p>
            <a:r>
              <a:rPr lang="en-US" b="1" dirty="0"/>
              <a:t>Prompt:</a:t>
            </a:r>
            <a:endParaRPr lang="en-US" dirty="0"/>
          </a:p>
          <a:p>
            <a:pPr lvl="2"/>
            <a:r>
              <a:rPr lang="en-US" dirty="0"/>
              <a:t>Symptom → Disease  </a:t>
            </a:r>
          </a:p>
          <a:p>
            <a:pPr lvl="2"/>
            <a:r>
              <a:rPr lang="en-US" dirty="0"/>
              <a:t>fever → dengue  </a:t>
            </a:r>
          </a:p>
          <a:p>
            <a:pPr lvl="2"/>
            <a:r>
              <a:rPr lang="en-US" dirty="0"/>
              <a:t>cough → ?</a:t>
            </a:r>
          </a:p>
          <a:p>
            <a:r>
              <a:rPr lang="en-US" b="1" dirty="0"/>
              <a:t>Model output:</a:t>
            </a:r>
            <a:endParaRPr lang="en-US" dirty="0"/>
          </a:p>
          <a:p>
            <a:r>
              <a:rPr lang="en-IN" dirty="0"/>
              <a:t>tuberculosis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BEBE14-36D1-E11F-4A82-CB493E4CDECA}"/>
              </a:ext>
            </a:extLst>
          </p:cNvPr>
          <p:cNvSpPr txBox="1"/>
          <p:nvPr/>
        </p:nvSpPr>
        <p:spPr>
          <a:xfrm>
            <a:off x="5313022" y="881577"/>
            <a:ext cx="2815840" cy="24622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b="1" dirty="0"/>
              <a:t>3) Few-shot</a:t>
            </a:r>
          </a:p>
          <a:p>
            <a:r>
              <a:rPr lang="en-IN" b="1" dirty="0"/>
              <a:t>Definition:</a:t>
            </a:r>
            <a:r>
              <a:rPr lang="en-IN" dirty="0"/>
              <a:t> Multiple demonstrations provided.</a:t>
            </a:r>
          </a:p>
          <a:p>
            <a:r>
              <a:rPr lang="en-IN" b="1" dirty="0"/>
              <a:t>Prompt:</a:t>
            </a:r>
            <a:endParaRPr lang="en-IN" dirty="0"/>
          </a:p>
          <a:p>
            <a:r>
              <a:rPr lang="en-IN" dirty="0"/>
              <a:t>Symptom → Disease  </a:t>
            </a:r>
          </a:p>
          <a:p>
            <a:r>
              <a:rPr lang="en-IN" dirty="0"/>
              <a:t>high fever → dengue  </a:t>
            </a:r>
          </a:p>
          <a:p>
            <a:r>
              <a:rPr lang="en-IN" dirty="0"/>
              <a:t>persistent cough → tuberculosis  </a:t>
            </a:r>
          </a:p>
          <a:p>
            <a:r>
              <a:rPr lang="en-IN" dirty="0"/>
              <a:t>high blood sugar → diabetes  </a:t>
            </a:r>
          </a:p>
          <a:p>
            <a:r>
              <a:rPr lang="en-IN" dirty="0"/>
              <a:t>severe headache → ?</a:t>
            </a:r>
          </a:p>
          <a:p>
            <a:r>
              <a:rPr lang="en-IN" b="1" dirty="0"/>
              <a:t>Model output:</a:t>
            </a:r>
            <a:endParaRPr lang="en-IN" dirty="0"/>
          </a:p>
          <a:p>
            <a:r>
              <a:rPr lang="en-IN" dirty="0"/>
              <a:t>migraine</a:t>
            </a:r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234772796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94F10-07BC-8F65-0C67-B16E8FCB9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26ACBB1D-1627-8219-86B8-62C882BF65B0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59E66A23-7FAE-737F-392F-A792F59F0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F96BE06D-65C5-F10F-858A-D325F9382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03FB5C15-C18E-B233-9569-F60CBA2D9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1C54951C-14F5-8ECC-1F61-12207EAC6C60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Prompt Engineering: Controlling LLM Behavior</a:t>
            </a:r>
            <a:endParaRPr lang="en-IN" dirty="0">
              <a:solidFill>
                <a:schemeClr val="accent1"/>
              </a:solidFill>
              <a:sym typeface="Helvetica"/>
            </a:endParaRP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ADC73BAB-6F9F-AFBC-9D47-ECA50C8DBD37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03CDCC89-EC05-3718-F70C-34BA2E8A6AA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B8F72A-6DAC-E60C-ECDE-2D47B8408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778258"/>
              </p:ext>
            </p:extLst>
          </p:nvPr>
        </p:nvGraphicFramePr>
        <p:xfrm>
          <a:off x="935521" y="1212463"/>
          <a:ext cx="7316379" cy="1740220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945318">
                  <a:extLst>
                    <a:ext uri="{9D8B030D-6E8A-4147-A177-3AD203B41FA5}">
                      <a16:colId xmlns:a16="http://schemas.microsoft.com/office/drawing/2014/main" val="2441805324"/>
                    </a:ext>
                  </a:extLst>
                </a:gridCol>
                <a:gridCol w="795454">
                  <a:extLst>
                    <a:ext uri="{9D8B030D-6E8A-4147-A177-3AD203B41FA5}">
                      <a16:colId xmlns:a16="http://schemas.microsoft.com/office/drawing/2014/main" val="995065377"/>
                    </a:ext>
                  </a:extLst>
                </a:gridCol>
                <a:gridCol w="1115122">
                  <a:extLst>
                    <a:ext uri="{9D8B030D-6E8A-4147-A177-3AD203B41FA5}">
                      <a16:colId xmlns:a16="http://schemas.microsoft.com/office/drawing/2014/main" val="2674476578"/>
                    </a:ext>
                  </a:extLst>
                </a:gridCol>
                <a:gridCol w="1324894">
                  <a:extLst>
                    <a:ext uri="{9D8B030D-6E8A-4147-A177-3AD203B41FA5}">
                      <a16:colId xmlns:a16="http://schemas.microsoft.com/office/drawing/2014/main" val="1865460658"/>
                    </a:ext>
                  </a:extLst>
                </a:gridCol>
                <a:gridCol w="1045197">
                  <a:extLst>
                    <a:ext uri="{9D8B030D-6E8A-4147-A177-3AD203B41FA5}">
                      <a16:colId xmlns:a16="http://schemas.microsoft.com/office/drawing/2014/main" val="501858047"/>
                    </a:ext>
                  </a:extLst>
                </a:gridCol>
                <a:gridCol w="1045197">
                  <a:extLst>
                    <a:ext uri="{9D8B030D-6E8A-4147-A177-3AD203B41FA5}">
                      <a16:colId xmlns:a16="http://schemas.microsoft.com/office/drawing/2014/main" val="2523890931"/>
                    </a:ext>
                  </a:extLst>
                </a:gridCol>
                <a:gridCol w="1045197">
                  <a:extLst>
                    <a:ext uri="{9D8B030D-6E8A-4147-A177-3AD203B41FA5}">
                      <a16:colId xmlns:a16="http://schemas.microsoft.com/office/drawing/2014/main" val="4221168096"/>
                    </a:ext>
                  </a:extLst>
                </a:gridCol>
              </a:tblGrid>
              <a:tr h="325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Mode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Examples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Adaptation Strength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Output Reliability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Prompt Length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Token Cost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Typical Use Case</a:t>
                      </a:r>
                    </a:p>
                  </a:txBody>
                  <a:tcPr marL="75009" marR="75009" marT="37505" marB="37505" anchor="ctr"/>
                </a:tc>
                <a:extLst>
                  <a:ext uri="{0D108BD9-81ED-4DB2-BD59-A6C34878D82A}">
                    <a16:rowId xmlns:a16="http://schemas.microsoft.com/office/drawing/2014/main" val="646051515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Zero-shot</a:t>
                      </a:r>
                      <a:endParaRPr lang="en-IN" sz="1050"/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0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Limited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Moderate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Short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Low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Simple, well-known tasks</a:t>
                      </a:r>
                    </a:p>
                  </a:txBody>
                  <a:tcPr marL="75009" marR="75009" marT="37505" marB="37505" anchor="ctr"/>
                </a:tc>
                <a:extLst>
                  <a:ext uri="{0D108BD9-81ED-4DB2-BD59-A6C34878D82A}">
                    <a16:rowId xmlns:a16="http://schemas.microsoft.com/office/drawing/2014/main" val="2531220621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One-shot</a:t>
                      </a:r>
                      <a:endParaRPr lang="en-IN" sz="1050"/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1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Moderate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Good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Medium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Medium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Moderately complex tasks</a:t>
                      </a:r>
                    </a:p>
                  </a:txBody>
                  <a:tcPr marL="75009" marR="75009" marT="37505" marB="37505" anchor="ctr"/>
                </a:tc>
                <a:extLst>
                  <a:ext uri="{0D108BD9-81ED-4DB2-BD59-A6C34878D82A}">
                    <a16:rowId xmlns:a16="http://schemas.microsoft.com/office/drawing/2014/main" val="45771789"/>
                  </a:ext>
                </a:extLst>
              </a:tr>
              <a:tr h="325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Few-shot</a:t>
                      </a:r>
                      <a:endParaRPr lang="en-IN" sz="1050"/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≥2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Strong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Highest (usually)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Long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High</a:t>
                      </a:r>
                    </a:p>
                  </a:txBody>
                  <a:tcPr marL="75009" marR="75009" marT="37505" marB="375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Complex or structured tasks</a:t>
                      </a:r>
                    </a:p>
                  </a:txBody>
                  <a:tcPr marL="75009" marR="75009" marT="37505" marB="37505" anchor="ctr"/>
                </a:tc>
                <a:extLst>
                  <a:ext uri="{0D108BD9-81ED-4DB2-BD59-A6C34878D82A}">
                    <a16:rowId xmlns:a16="http://schemas.microsoft.com/office/drawing/2014/main" val="7624305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EBEB467-2038-6225-3D1F-053DAA8EA0DB}"/>
              </a:ext>
            </a:extLst>
          </p:cNvPr>
          <p:cNvSpPr txBox="1"/>
          <p:nvPr/>
        </p:nvSpPr>
        <p:spPr>
          <a:xfrm>
            <a:off x="2559206" y="3105984"/>
            <a:ext cx="4642624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200" b="1" i="1" dirty="0"/>
              <a:t>Table 2. Comparison of In-Context Learning Modes</a:t>
            </a:r>
            <a:endParaRPr lang="en-IN" sz="1200" b="1" i="1" dirty="0"/>
          </a:p>
        </p:txBody>
      </p:sp>
    </p:spTree>
    <p:extLst>
      <p:ext uri="{BB962C8B-B14F-4D97-AF65-F5344CB8AC3E}">
        <p14:creationId xmlns:p14="http://schemas.microsoft.com/office/powerpoint/2010/main" val="175696783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89933-75AA-1B98-07C0-40A6D7272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5AACC63D-2DA9-529A-B456-EC2DDD27598A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B3917BF3-8EC2-213C-13B4-00CE809FA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883461C2-DAE2-DEA4-D2C7-75998339F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97320615-20CA-0EA1-F259-152E9DD75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C97163BC-6CBC-67D8-0EA6-B2F31A482866}"/>
              </a:ext>
            </a:extLst>
          </p:cNvPr>
          <p:cNvSpPr txBox="1"/>
          <p:nvPr/>
        </p:nvSpPr>
        <p:spPr>
          <a:xfrm>
            <a:off x="1188977" y="156051"/>
            <a:ext cx="6766046" cy="800183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Putting It All Together: Retrieval-Augmented Generation (RAG)</a:t>
            </a:r>
            <a:endParaRPr lang="en-IN" dirty="0">
              <a:solidFill>
                <a:schemeClr val="accent1"/>
              </a:solidFill>
              <a:sym typeface="Helvetica"/>
            </a:endParaRP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1ADA7BB3-9CCB-5F30-D30A-A9A4879C7478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98D680BB-51BA-D3BC-4E44-D3D9D350F55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33961F-4FB6-F74B-35F1-B90C000EC4DD}"/>
              </a:ext>
            </a:extLst>
          </p:cNvPr>
          <p:cNvSpPr txBox="1"/>
          <p:nvPr/>
        </p:nvSpPr>
        <p:spPr>
          <a:xfrm>
            <a:off x="239751" y="1065532"/>
            <a:ext cx="4094356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What is RAG?</a:t>
            </a:r>
          </a:p>
          <a:p>
            <a:r>
              <a:rPr lang="en-US" dirty="0"/>
              <a:t>Retrieval-Augmented Generation (RAG) is a hybrid framework that combines: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knowledge 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LLM-based text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produce grounded and factual responses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7A11B-7D3F-82B7-976B-35E86719E110}"/>
              </a:ext>
            </a:extLst>
          </p:cNvPr>
          <p:cNvSpPr txBox="1"/>
          <p:nvPr/>
        </p:nvSpPr>
        <p:spPr>
          <a:xfrm>
            <a:off x="239752" y="2589678"/>
            <a:ext cx="3707780" cy="1169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Why RAG is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hallucinations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Incorporates domain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Keeps information up to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factual grounding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74BF84-BD0D-CDD7-15D8-A9CF04B4377D}"/>
              </a:ext>
            </a:extLst>
          </p:cNvPr>
          <p:cNvSpPr txBox="1"/>
          <p:nvPr/>
        </p:nvSpPr>
        <p:spPr>
          <a:xfrm>
            <a:off x="4516245" y="1058244"/>
            <a:ext cx="4092497" cy="1169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RAG Pipeline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User query is embedded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Relevant documents are retrieved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Retrieved context is appended to prompt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LLM generates grounded response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32E81F-6F3F-5542-7051-04C0C78132C1}"/>
              </a:ext>
            </a:extLst>
          </p:cNvPr>
          <p:cNvSpPr txBox="1"/>
          <p:nvPr/>
        </p:nvSpPr>
        <p:spPr>
          <a:xfrm>
            <a:off x="4501376" y="2362863"/>
            <a:ext cx="4508809" cy="16004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Example</a:t>
            </a:r>
          </a:p>
          <a:p>
            <a:r>
              <a:rPr lang="en-US" b="1" dirty="0"/>
              <a:t>Query: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Symptoms of dengue</a:t>
            </a:r>
          </a:p>
          <a:p>
            <a:r>
              <a:rPr lang="en-US" b="1" dirty="0"/>
              <a:t>RAG behavior: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retrieve medical passages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inject into prompt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evidence-grounded answer</a:t>
            </a:r>
          </a:p>
        </p:txBody>
      </p:sp>
    </p:spTree>
    <p:extLst>
      <p:ext uri="{BB962C8B-B14F-4D97-AF65-F5344CB8AC3E}">
        <p14:creationId xmlns:p14="http://schemas.microsoft.com/office/powerpoint/2010/main" val="187447197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2F5A9-D661-EF5C-D2EA-70618672F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BB23455C-489C-38B4-39C4-E1A654C29A96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0BEDA070-83DA-A0F4-71C1-6D6AE2048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AF89922E-9985-2CAA-22BE-AA230956F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91180169-109A-8D98-ACC6-C6888FA94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742F75C6-45A8-4EB0-5740-E3C98C77289A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RAG Pipeline</a:t>
            </a:r>
            <a:endParaRPr lang="en-IN" dirty="0">
              <a:solidFill>
                <a:schemeClr val="accent1"/>
              </a:solidFill>
              <a:sym typeface="Helvetica"/>
            </a:endParaRP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55CBEFAF-BD90-2F5C-E3C6-B2326B7288FB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E9406728-3C16-81D7-F848-60D587EB973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950833-2918-5BAD-A785-F6FD53F7A1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129" y="1046136"/>
            <a:ext cx="6020539" cy="12476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D891B9-17B9-0BCB-907A-126EC7ED9EE0}"/>
              </a:ext>
            </a:extLst>
          </p:cNvPr>
          <p:cNvSpPr txBox="1"/>
          <p:nvPr/>
        </p:nvSpPr>
        <p:spPr>
          <a:xfrm>
            <a:off x="1309606" y="2464230"/>
            <a:ext cx="6540286" cy="160043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submits a query (e.g., “Symptoms of dengue”).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query is converted into a vector using an embedding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Vector search retrieves the most relevant medical documents.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Relevant context passages are selected from retrieved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LLM uses this context to generate a grounded answer.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RAG improves factual accuracy and reduces hallucinations by using external knowledge.</a:t>
            </a: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33814885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BA94-F395-142E-C8E3-5B066A472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DCEB91CA-30D4-217B-8BE8-D9F2CB645636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97173D2A-F215-3B39-2858-D6EE10FB5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442FFDED-75F1-26EE-4E16-73FBAAABA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A36B58E7-B4D7-04BD-9409-115C33C6E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9877D8C9-660E-1DAD-40FC-B65BCB9A8E74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Key Takeaways</a:t>
            </a:r>
            <a:endParaRPr lang="en-IN" dirty="0">
              <a:solidFill>
                <a:schemeClr val="accent1"/>
              </a:solidFill>
              <a:sym typeface="Helvetica"/>
            </a:endParaRP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7C1D13AD-FFA5-5057-A8EE-D1F7BB77125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0063872D-4731-CA0A-95B9-7D3D6F95C60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C0D52D-7BB4-1C5E-DAF6-F648E28E8EB4}"/>
              </a:ext>
            </a:extLst>
          </p:cNvPr>
          <p:cNvSpPr txBox="1"/>
          <p:nvPr/>
        </p:nvSpPr>
        <p:spPr>
          <a:xfrm>
            <a:off x="1102110" y="1087834"/>
            <a:ext cx="5320992" cy="1169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LLMs operate through a structured mathematical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Tokenization enables numerical processing of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Embeddings encode semantic meaning geometrically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Attention enables deep contextual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Prompting and ICL control model behaviour at inference time</a:t>
            </a:r>
          </a:p>
        </p:txBody>
      </p:sp>
    </p:spTree>
    <p:extLst>
      <p:ext uri="{BB962C8B-B14F-4D97-AF65-F5344CB8AC3E}">
        <p14:creationId xmlns:p14="http://schemas.microsoft.com/office/powerpoint/2010/main" val="83149456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1801F-1282-7401-A609-593C7421D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54;p12">
            <a:extLst>
              <a:ext uri="{FF2B5EF4-FFF2-40B4-BE49-F238E27FC236}">
                <a16:creationId xmlns:a16="http://schemas.microsoft.com/office/drawing/2014/main" id="{CF5E8A7E-A222-6ADB-4725-D13CF3B1EC8D}"/>
              </a:ext>
            </a:extLst>
          </p:cNvPr>
          <p:cNvGrpSpPr/>
          <p:nvPr/>
        </p:nvGrpSpPr>
        <p:grpSpPr>
          <a:xfrm>
            <a:off x="-31405" y="4175425"/>
            <a:ext cx="9192331" cy="1014482"/>
            <a:chOff x="-1" y="-1"/>
            <a:chExt cx="9192329" cy="1014480"/>
          </a:xfrm>
        </p:grpSpPr>
        <p:pic>
          <p:nvPicPr>
            <p:cNvPr id="176" name="Google Shape;55;p12" descr="Google Shape;55;p12">
              <a:extLst>
                <a:ext uri="{FF2B5EF4-FFF2-40B4-BE49-F238E27FC236}">
                  <a16:creationId xmlns:a16="http://schemas.microsoft.com/office/drawing/2014/main" id="{7F99788D-0ABB-ECB3-C67C-6DAA5908C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3000"/>
            </a:blip>
            <a:stretch>
              <a:fillRect/>
            </a:stretch>
          </p:blipFill>
          <p:spPr>
            <a:xfrm>
              <a:off x="2560097" y="65"/>
              <a:ext cx="6587557" cy="10016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Google Shape;56;p12" descr="Google Shape;56;p12">
              <a:extLst>
                <a:ext uri="{FF2B5EF4-FFF2-40B4-BE49-F238E27FC236}">
                  <a16:creationId xmlns:a16="http://schemas.microsoft.com/office/drawing/2014/main" id="{932AE661-4BBF-0E21-54A1-C8E48D599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3000"/>
            </a:blip>
            <a:stretch>
              <a:fillRect/>
            </a:stretch>
          </p:blipFill>
          <p:spPr>
            <a:xfrm>
              <a:off x="-2" y="65"/>
              <a:ext cx="2927206" cy="10144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8" name="Google Shape;57;p12" descr="Google Shape;57;p12">
              <a:extLst>
                <a:ext uri="{FF2B5EF4-FFF2-40B4-BE49-F238E27FC236}">
                  <a16:creationId xmlns:a16="http://schemas.microsoft.com/office/drawing/2014/main" id="{CBBC9DAF-0DFE-F061-6380-4285FEA73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3000"/>
            </a:blip>
            <a:stretch>
              <a:fillRect/>
            </a:stretch>
          </p:blipFill>
          <p:spPr>
            <a:xfrm>
              <a:off x="6265126" y="-2"/>
              <a:ext cx="2927203" cy="10028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0" name="Google Shape;58;p12">
            <a:extLst>
              <a:ext uri="{FF2B5EF4-FFF2-40B4-BE49-F238E27FC236}">
                <a16:creationId xmlns:a16="http://schemas.microsoft.com/office/drawing/2014/main" id="{AB6EC19C-3FD6-CE09-1654-FE2DFE5B2355}"/>
              </a:ext>
            </a:extLst>
          </p:cNvPr>
          <p:cNvSpPr txBox="1"/>
          <p:nvPr/>
        </p:nvSpPr>
        <p:spPr>
          <a:xfrm>
            <a:off x="1188977" y="156051"/>
            <a:ext cx="6766046" cy="492406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100000">
                <a:srgbClr val="4285F3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2" tIns="91422" rIns="91422" bIns="91422">
            <a:spAutoFit/>
          </a:bodyPr>
          <a:lstStyle>
            <a:lvl1pPr algn="ctr">
              <a:defRPr sz="2000" b="1">
                <a:solidFill>
                  <a:srgbClr val="58585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endParaRPr lang="en-IN" dirty="0">
              <a:solidFill>
                <a:schemeClr val="accent1"/>
              </a:solidFill>
              <a:sym typeface="Helvetica"/>
            </a:endParaRPr>
          </a:p>
        </p:txBody>
      </p:sp>
      <p:sp>
        <p:nvSpPr>
          <p:cNvPr id="181" name="Google Shape;59;p12">
            <a:extLst>
              <a:ext uri="{FF2B5EF4-FFF2-40B4-BE49-F238E27FC236}">
                <a16:creationId xmlns:a16="http://schemas.microsoft.com/office/drawing/2014/main" id="{07C4BCD2-0BD8-03BA-FA2B-522A05305860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754974" y="4700818"/>
            <a:ext cx="266178" cy="3183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 lnSpcReduction="10000"/>
          </a:bodyPr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pic>
        <p:nvPicPr>
          <p:cNvPr id="182" name="Google Shape;60;p12" descr="Google Shape;60;p12">
            <a:extLst>
              <a:ext uri="{FF2B5EF4-FFF2-40B4-BE49-F238E27FC236}">
                <a16:creationId xmlns:a16="http://schemas.microsoft.com/office/drawing/2014/main" id="{45BCCE1F-164F-B52B-ADAA-94743829129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-130000" y="-174976"/>
            <a:ext cx="1646877" cy="164687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9FBEC7-D0AE-3C5F-8E1C-DA7CACDF97EB}"/>
              </a:ext>
            </a:extLst>
          </p:cNvPr>
          <p:cNvSpPr txBox="1"/>
          <p:nvPr/>
        </p:nvSpPr>
        <p:spPr>
          <a:xfrm>
            <a:off x="1131847" y="3236303"/>
            <a:ext cx="3811860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000" dirty="0"/>
              <a:t>Any Questions?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9AEA11-E7CD-8F24-3B7E-F375C4108773}"/>
              </a:ext>
            </a:extLst>
          </p:cNvPr>
          <p:cNvSpPr txBox="1"/>
          <p:nvPr/>
        </p:nvSpPr>
        <p:spPr>
          <a:xfrm>
            <a:off x="2733905" y="2355356"/>
            <a:ext cx="3956826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000" dirty="0"/>
              <a:t>Thank You All…..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5503B-DE68-3A5F-FF3E-168DFA8AD1B2}"/>
              </a:ext>
            </a:extLst>
          </p:cNvPr>
          <p:cNvSpPr txBox="1"/>
          <p:nvPr/>
        </p:nvSpPr>
        <p:spPr>
          <a:xfrm>
            <a:off x="5306120" y="3827318"/>
            <a:ext cx="3726367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dirty="0"/>
              <a:t>Email Id: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darshna.parmar@iiitvadodara.ac.in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CCBE1-E66D-8BC4-8CCF-1C15AA0644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648" y="1551718"/>
            <a:ext cx="3742256" cy="67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35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1272</Words>
  <Application>Microsoft Office PowerPoint</Application>
  <PresentationFormat>On-screen Show (16:9)</PresentationFormat>
  <Paragraphs>267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 Math</vt:lpstr>
      <vt:lpstr>Helvetica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darshna parmar</cp:lastModifiedBy>
  <cp:revision>120</cp:revision>
  <dcterms:modified xsi:type="dcterms:W3CDTF">2026-02-28T13:21:30Z</dcterms:modified>
</cp:coreProperties>
</file>